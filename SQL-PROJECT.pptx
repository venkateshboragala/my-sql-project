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9" r:id="rId1"/>
  </p:sldMasterIdLst>
  <p:notesMasterIdLst>
    <p:notesMasterId r:id="rId39"/>
  </p:notesMasterIdLst>
  <p:sldIdLst>
    <p:sldId id="256" r:id="rId2"/>
    <p:sldId id="258" r:id="rId3"/>
    <p:sldId id="261" r:id="rId4"/>
    <p:sldId id="260" r:id="rId5"/>
    <p:sldId id="263" r:id="rId6"/>
    <p:sldId id="264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2" r:id="rId32"/>
    <p:sldId id="293" r:id="rId33"/>
    <p:sldId id="294" r:id="rId34"/>
    <p:sldId id="295" r:id="rId35"/>
    <p:sldId id="296" r:id="rId36"/>
    <p:sldId id="298" r:id="rId37"/>
    <p:sldId id="259" r:id="rId38"/>
  </p:sldIdLst>
  <p:sldSz cx="12192000" cy="6858000"/>
  <p:notesSz cx="6858000" cy="9144000"/>
  <p:embeddedFontLst>
    <p:embeddedFont>
      <p:font typeface="Libre Baskerville" panose="020F0502020204030204" pitchFamily="2" charset="0"/>
      <p:regular r:id="rId40"/>
      <p:bold r:id="rId41"/>
      <p:italic r:id="rId42"/>
    </p:embeddedFont>
    <p:embeddedFont>
      <p:font typeface="Tw Cen MT" panose="020B0602020104020603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872489-F3C8-4B38-8E08-A57072991819}">
          <p14:sldIdLst>
            <p14:sldId id="256"/>
            <p14:sldId id="258"/>
            <p14:sldId id="261"/>
            <p14:sldId id="260"/>
            <p14:sldId id="263"/>
            <p14:sldId id="264"/>
            <p14:sldId id="262"/>
            <p14:sldId id="266"/>
            <p14:sldId id="267"/>
            <p14:sldId id="268"/>
          </p14:sldIdLst>
        </p14:section>
        <p14:section name="Untitled Section" id="{C3D19A32-E717-4C28-8ADD-AA7434785BE8}">
          <p14:sldIdLst>
            <p14:sldId id="269"/>
            <p14:sldId id="270"/>
            <p14:sldId id="271"/>
            <p14:sldId id="272"/>
            <p14:sldId id="273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2"/>
            <p14:sldId id="293"/>
            <p14:sldId id="294"/>
            <p14:sldId id="295"/>
            <p14:sldId id="296"/>
            <p14:sldId id="29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62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206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41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471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7308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93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1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319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843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4207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863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1561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9998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2436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1697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4834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320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F3DF-2A06-6662-CE47-65E8064C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32B7E-8400-59C9-E1B2-515A0BAF0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7A1EC-B651-F57F-381D-986FD9B6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0D099-F90D-8940-B437-98669FF5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7B683-C4AD-9D25-CB3D-3F4641D3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82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88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2177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995418" y="3946587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G</a:t>
            </a:r>
            <a:r>
              <a:rPr lang="en-IN" sz="32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ROCERY STORE MANAGEMENT</a:t>
            </a:r>
            <a:endParaRPr sz="2400" b="1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3F1A-BC95-2508-BFCC-B0B1C5CF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629"/>
          </a:xfrm>
        </p:spPr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3B84F-5FCF-F633-DA83-A2BBFD41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7646" cy="4351338"/>
          </a:xfrm>
        </p:spPr>
        <p:txBody>
          <a:bodyPr>
            <a:normAutofit/>
          </a:bodyPr>
          <a:lstStyle/>
          <a:p>
            <a:pPr algn="just">
              <a:buSzPct val="100000"/>
            </a:pPr>
            <a:r>
              <a:rPr lang="en-US" dirty="0"/>
              <a:t>To design and implement a relational database for a grocery store.</a:t>
            </a:r>
          </a:p>
          <a:p>
            <a:pPr marL="114300" indent="0" algn="just">
              <a:buSzPct val="100000"/>
              <a:buNone/>
            </a:pPr>
            <a:endParaRPr lang="en-US" dirty="0"/>
          </a:p>
          <a:p>
            <a:pPr algn="just">
              <a:buSzPct val="100000"/>
            </a:pPr>
            <a:r>
              <a:rPr lang="en-US" dirty="0"/>
              <a:t>To retrieve and manipulate data using SQL queries. To practice using joins, aggregations, subqueries, and filtering techniques</a:t>
            </a:r>
            <a:r>
              <a:rPr lang="en-US" b="1" dirty="0"/>
              <a:t>.</a:t>
            </a:r>
          </a:p>
          <a:p>
            <a:pPr marL="114300" indent="0" algn="just">
              <a:buSzPct val="100000"/>
              <a:buNone/>
            </a:pPr>
            <a:endParaRPr lang="en-US" dirty="0"/>
          </a:p>
          <a:p>
            <a:pPr algn="just">
              <a:buSzPct val="100000"/>
            </a:pPr>
            <a:r>
              <a:rPr lang="en-US" dirty="0"/>
              <a:t>To perform data analysis for business insights such as top customers, best-selling products, and revenue trends.</a:t>
            </a:r>
          </a:p>
          <a:p>
            <a:pPr marL="11430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70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E581-8711-E934-A216-853EEDC0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C3761-D7BA-441B-BAB9-76DDFC22C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251857"/>
            <a:ext cx="11647714" cy="4925106"/>
          </a:xfrm>
        </p:spPr>
        <p:txBody>
          <a:bodyPr>
            <a:normAutofit/>
          </a:bodyPr>
          <a:lstStyle/>
          <a:p>
            <a:pPr>
              <a:buSzPct val="84000"/>
            </a:pPr>
            <a:r>
              <a:rPr lang="en-US" dirty="0"/>
              <a:t>The Retail and Grocery domain manages products, suppliers, customers, employees, and orders.</a:t>
            </a:r>
          </a:p>
          <a:p>
            <a:pPr>
              <a:buSzPct val="84000"/>
            </a:pPr>
            <a:r>
              <a:rPr lang="en-US" dirty="0"/>
              <a:t>This project simulates a mini grocery store database system.</a:t>
            </a:r>
          </a:p>
          <a:p>
            <a:pPr>
              <a:buSzPct val="84000"/>
            </a:pPr>
            <a:r>
              <a:rPr lang="en-US" dirty="0"/>
              <a:t>This project simulates a mini grocery store database system.</a:t>
            </a:r>
          </a:p>
          <a:p>
            <a:pPr lvl="1">
              <a:buSzPct val="84000"/>
            </a:pPr>
            <a:r>
              <a:rPr lang="en-IN" dirty="0"/>
              <a:t>Data extraction and transformation</a:t>
            </a:r>
          </a:p>
          <a:p>
            <a:pPr lvl="1">
              <a:buSzPct val="84000"/>
            </a:pPr>
            <a:r>
              <a:rPr lang="en-IN" dirty="0"/>
              <a:t>Deriving meaningful business insights</a:t>
            </a:r>
          </a:p>
          <a:p>
            <a:pPr>
              <a:buSzPct val="84000"/>
            </a:pPr>
            <a:r>
              <a:rPr lang="en-IN" dirty="0"/>
              <a:t>The project helps in:</a:t>
            </a:r>
          </a:p>
          <a:p>
            <a:pPr lvl="1">
              <a:buSzPct val="84000"/>
            </a:pPr>
            <a:r>
              <a:rPr lang="en-US" dirty="0"/>
              <a:t>Tracking sales performance and revenue</a:t>
            </a:r>
          </a:p>
          <a:p>
            <a:pPr lvl="1">
              <a:buSzPct val="84000"/>
            </a:pPr>
            <a:r>
              <a:rPr lang="en-US" dirty="0"/>
              <a:t>Monitoring product availability and stock levels</a:t>
            </a:r>
          </a:p>
          <a:p>
            <a:pPr lvl="1">
              <a:buSzPct val="84000"/>
            </a:pPr>
            <a:r>
              <a:rPr lang="en-IN" dirty="0"/>
              <a:t>Analysing customer purchasing behavior</a:t>
            </a:r>
          </a:p>
          <a:p>
            <a:pPr lvl="1">
              <a:buSzPct val="84000"/>
            </a:pPr>
            <a:r>
              <a:rPr lang="en-IN" dirty="0"/>
              <a:t>Improving 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244970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BB05-85E2-28C0-EFEB-765B40D9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23"/>
            <a:ext cx="10515600" cy="857747"/>
          </a:xfrm>
        </p:spPr>
        <p:txBody>
          <a:bodyPr/>
          <a:lstStyle/>
          <a:p>
            <a:r>
              <a:rPr lang="en-US" dirty="0"/>
              <a:t>Tables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B7D93-7D04-5201-A1C7-2C3E8E896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666" r="25936" b="12395"/>
          <a:stretch>
            <a:fillRect/>
          </a:stretch>
        </p:blipFill>
        <p:spPr>
          <a:xfrm>
            <a:off x="1049127" y="1839817"/>
            <a:ext cx="5233622" cy="12449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9CAD0-D682-9784-9892-9B34F601253B}"/>
              </a:ext>
            </a:extLst>
          </p:cNvPr>
          <p:cNvSpPr txBox="1"/>
          <p:nvPr/>
        </p:nvSpPr>
        <p:spPr>
          <a:xfrm>
            <a:off x="1542362" y="1280577"/>
            <a:ext cx="3613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Suppliers Table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3CD0A-0E34-4657-F242-28E1EF64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046" y="1839817"/>
            <a:ext cx="4972253" cy="116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8D1D6-F0A0-5918-1778-74D41D4C52E9}"/>
              </a:ext>
            </a:extLst>
          </p:cNvPr>
          <p:cNvSpPr txBox="1"/>
          <p:nvPr/>
        </p:nvSpPr>
        <p:spPr>
          <a:xfrm>
            <a:off x="7036109" y="1326743"/>
            <a:ext cx="345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Categories Table</a:t>
            </a:r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E6091-DAE8-1612-4991-C940107470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28"/>
          <a:stretch>
            <a:fillRect/>
          </a:stretch>
        </p:blipFill>
        <p:spPr>
          <a:xfrm>
            <a:off x="1049127" y="4197427"/>
            <a:ext cx="5259273" cy="12449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D462A0-C308-05F5-33B6-D4D29BC52BE7}"/>
              </a:ext>
            </a:extLst>
          </p:cNvPr>
          <p:cNvSpPr txBox="1"/>
          <p:nvPr/>
        </p:nvSpPr>
        <p:spPr>
          <a:xfrm>
            <a:off x="1542362" y="3646583"/>
            <a:ext cx="3866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Employees Table</a:t>
            </a:r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33E569-4132-EF25-5E5B-47FD5F13E5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2" t="5690" b="10677"/>
          <a:stretch>
            <a:fillRect/>
          </a:stretch>
        </p:blipFill>
        <p:spPr>
          <a:xfrm>
            <a:off x="6793046" y="4197427"/>
            <a:ext cx="4851783" cy="13338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5E79D2-6C28-CE54-BA01-0869E4021BB0}"/>
              </a:ext>
            </a:extLst>
          </p:cNvPr>
          <p:cNvSpPr txBox="1"/>
          <p:nvPr/>
        </p:nvSpPr>
        <p:spPr>
          <a:xfrm>
            <a:off x="6907576" y="3646583"/>
            <a:ext cx="3584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Customers Table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325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160C-2DFD-6A31-B6E1-4E9B061A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163" y="429659"/>
            <a:ext cx="10366871" cy="716096"/>
          </a:xfrm>
        </p:spPr>
        <p:txBody>
          <a:bodyPr>
            <a:normAutofit/>
          </a:bodyPr>
          <a:lstStyle/>
          <a:p>
            <a:r>
              <a:rPr lang="en-US" dirty="0"/>
              <a:t>Tables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4C84B-E344-77B7-6B4F-EB5D00E64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354" y="2506978"/>
            <a:ext cx="4362450" cy="1485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9CB162-15F5-906E-0BF4-AB55C61E4076}"/>
              </a:ext>
            </a:extLst>
          </p:cNvPr>
          <p:cNvSpPr txBox="1"/>
          <p:nvPr/>
        </p:nvSpPr>
        <p:spPr>
          <a:xfrm>
            <a:off x="947451" y="1883884"/>
            <a:ext cx="4142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Products Table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16C396-FB80-6A34-4CAE-AB59B581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6978"/>
            <a:ext cx="4495800" cy="1485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36DDB3-D1D6-D3FC-3739-3D857DCC79E2}"/>
              </a:ext>
            </a:extLst>
          </p:cNvPr>
          <p:cNvSpPr txBox="1"/>
          <p:nvPr/>
        </p:nvSpPr>
        <p:spPr>
          <a:xfrm>
            <a:off x="6004193" y="1883884"/>
            <a:ext cx="4307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Orders Table</a:t>
            </a:r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02CE3B-E89D-4AFE-83D7-296E479C7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725" y="4809092"/>
            <a:ext cx="5267325" cy="1619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69CEF7-9F1A-DA93-B6E9-BCF5E9A10F0C}"/>
              </a:ext>
            </a:extLst>
          </p:cNvPr>
          <p:cNvSpPr txBox="1"/>
          <p:nvPr/>
        </p:nvSpPr>
        <p:spPr>
          <a:xfrm>
            <a:off x="4120308" y="4312397"/>
            <a:ext cx="3977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Order_Details Table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4564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604B-EFAA-970B-784E-51626F1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169"/>
            <a:ext cx="10515600" cy="664913"/>
          </a:xfrm>
        </p:spPr>
        <p:txBody>
          <a:bodyPr>
            <a:normAutofit/>
          </a:bodyPr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90A70-E634-9960-2B47-610F1ECC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01" y="936434"/>
            <a:ext cx="9970265" cy="527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5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2CBB-7EF9-6899-831E-EAC52C01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476"/>
          </a:xfrm>
        </p:spPr>
        <p:txBody>
          <a:bodyPr>
            <a:normAutofit/>
          </a:bodyPr>
          <a:lstStyle/>
          <a:p>
            <a:r>
              <a:rPr lang="en-US" b="1" dirty="0"/>
              <a:t>Key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BCC5E-A724-9D21-DFD0-921E6BB51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924"/>
            <a:ext cx="10515600" cy="492103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1. </a:t>
            </a:r>
            <a:r>
              <a:rPr lang="en-US" sz="3200" dirty="0">
                <a:effectLst/>
              </a:rPr>
              <a:t>How many unique customers have placed orders?</a:t>
            </a:r>
            <a:endParaRPr lang="en-US" sz="32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51B3AA-6BF7-99DC-21B5-51789173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16" y="2484780"/>
            <a:ext cx="5893106" cy="17604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387625-4DA1-4F1C-5F11-744A5A615D1F}"/>
              </a:ext>
            </a:extLst>
          </p:cNvPr>
          <p:cNvSpPr txBox="1"/>
          <p:nvPr/>
        </p:nvSpPr>
        <p:spPr>
          <a:xfrm>
            <a:off x="887316" y="1962056"/>
            <a:ext cx="4186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E2D2-2465-18B6-A430-8EDBE06A43C3}"/>
              </a:ext>
            </a:extLst>
          </p:cNvPr>
          <p:cNvSpPr txBox="1"/>
          <p:nvPr/>
        </p:nvSpPr>
        <p:spPr>
          <a:xfrm>
            <a:off x="7517464" y="4512367"/>
            <a:ext cx="3338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output</a:t>
            </a:r>
            <a:endParaRPr lang="en-IN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6CB69-F46C-6484-0FCA-DCE232128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57" y="5035587"/>
            <a:ext cx="3113314" cy="11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3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6C5D-FA2C-45A9-C98F-92EC763D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511"/>
          </a:xfrm>
        </p:spPr>
        <p:txBody>
          <a:bodyPr>
            <a:noAutofit/>
          </a:bodyPr>
          <a:lstStyle/>
          <a:p>
            <a:r>
              <a:rPr lang="en-US" sz="3200" b="1" dirty="0">
                <a:effectLst/>
              </a:rPr>
              <a:t>2.Which customers have placed the highest number of orders?</a:t>
            </a: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61ED4-8500-15D0-5AA4-272C212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737" y="1842571"/>
            <a:ext cx="5342263" cy="2257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355874-169B-297C-066F-9F07126C04E0}"/>
              </a:ext>
            </a:extLst>
          </p:cNvPr>
          <p:cNvSpPr txBox="1"/>
          <p:nvPr/>
        </p:nvSpPr>
        <p:spPr>
          <a:xfrm>
            <a:off x="753737" y="1336675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Query</a:t>
            </a:r>
            <a:endParaRPr lang="en-I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F9693-938A-E23F-6A35-4D380FBD6052}"/>
              </a:ext>
            </a:extLst>
          </p:cNvPr>
          <p:cNvSpPr txBox="1"/>
          <p:nvPr/>
        </p:nvSpPr>
        <p:spPr>
          <a:xfrm>
            <a:off x="6742323" y="3977089"/>
            <a:ext cx="4362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 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505FB-9F5B-B2B3-6FB3-B086C7CB8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061" y="4572000"/>
            <a:ext cx="4362678" cy="13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72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9066-A2E4-EC77-71DD-CFA477F64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109"/>
            <a:ext cx="10515600" cy="835714"/>
          </a:xfrm>
        </p:spPr>
        <p:txBody>
          <a:bodyPr>
            <a:noAutofit/>
          </a:bodyPr>
          <a:lstStyle/>
          <a:p>
            <a:r>
              <a:rPr lang="en-US" sz="3200" b="1" dirty="0">
                <a:effectLst/>
              </a:rPr>
              <a:t>3.What is the total and average purchase value per customer?</a:t>
            </a: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94CC08-5436-54AF-AA5B-FE8A686C3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867" y="1732602"/>
            <a:ext cx="4713170" cy="43075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0AC9B1-CC35-BB87-55FB-537990171776}"/>
              </a:ext>
            </a:extLst>
          </p:cNvPr>
          <p:cNvSpPr txBox="1"/>
          <p:nvPr/>
        </p:nvSpPr>
        <p:spPr>
          <a:xfrm>
            <a:off x="1343536" y="1245037"/>
            <a:ext cx="446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DFDD0-47BB-5F8D-FB02-DA443C597934}"/>
              </a:ext>
            </a:extLst>
          </p:cNvPr>
          <p:cNvSpPr txBox="1"/>
          <p:nvPr/>
        </p:nvSpPr>
        <p:spPr>
          <a:xfrm>
            <a:off x="7631280" y="1732602"/>
            <a:ext cx="3342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Output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51959-FAA0-9799-F747-D7EA69E92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120" y="2389115"/>
            <a:ext cx="3848637" cy="33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D669C-92F2-93D7-260A-9D2A02A5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427"/>
          </a:xfrm>
        </p:spPr>
        <p:txBody>
          <a:bodyPr>
            <a:noAutofit/>
          </a:bodyPr>
          <a:lstStyle/>
          <a:p>
            <a:r>
              <a:rPr lang="en-US" sz="3200" b="1" dirty="0">
                <a:effectLst/>
              </a:rPr>
              <a:t>4.Who are the top 5 customers by total purchase amount?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DA2B6-D670-E40D-D9C6-9AF317916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79" y="1772318"/>
            <a:ext cx="4914975" cy="41581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FEDEA-8756-52AE-217B-8C940D4DBC43}"/>
              </a:ext>
            </a:extLst>
          </p:cNvPr>
          <p:cNvSpPr txBox="1"/>
          <p:nvPr/>
        </p:nvSpPr>
        <p:spPr>
          <a:xfrm>
            <a:off x="838200" y="1162102"/>
            <a:ext cx="2005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D74F5-9FFB-9445-5F96-7B7DCA863BB5}"/>
              </a:ext>
            </a:extLst>
          </p:cNvPr>
          <p:cNvSpPr txBox="1"/>
          <p:nvPr/>
        </p:nvSpPr>
        <p:spPr>
          <a:xfrm>
            <a:off x="6651172" y="1162102"/>
            <a:ext cx="3172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CC1473-88CD-A42D-E865-A4F00213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397" y="1772317"/>
            <a:ext cx="3772831" cy="284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2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8052-4203-06D3-103E-3871EAC9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338"/>
            <a:ext cx="10515600" cy="103558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effectLst/>
              </a:rPr>
              <a:t>5.How many products exist in each category?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BAD3E-EA42-6366-C49A-F30061044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7138"/>
            <a:ext cx="7283004" cy="2104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B76488-CE37-0ED5-5B40-68D2A9706C73}"/>
              </a:ext>
            </a:extLst>
          </p:cNvPr>
          <p:cNvSpPr txBox="1"/>
          <p:nvPr/>
        </p:nvSpPr>
        <p:spPr>
          <a:xfrm>
            <a:off x="838200" y="1128786"/>
            <a:ext cx="208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311ED-C94A-1BDF-E0E1-DE4EDFD45C31}"/>
              </a:ext>
            </a:extLst>
          </p:cNvPr>
          <p:cNvSpPr txBox="1"/>
          <p:nvPr/>
        </p:nvSpPr>
        <p:spPr>
          <a:xfrm>
            <a:off x="8967729" y="3276329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DFCC8-1EC8-DBC7-4AEB-5BEAC1F65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797" y="4225547"/>
            <a:ext cx="2929003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34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01BF-20FD-65C3-310D-5895D6A3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ffectLst/>
              </a:rPr>
              <a:t>6.What is the average price of products by category?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A93F-CE64-D115-DCD6-55256A684A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4F653-062B-C800-CAD3-F9A0BC69E431}"/>
              </a:ext>
            </a:extLst>
          </p:cNvPr>
          <p:cNvSpPr txBox="1"/>
          <p:nvPr/>
        </p:nvSpPr>
        <p:spPr>
          <a:xfrm>
            <a:off x="8967729" y="3276329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D06BD-6F00-5E53-7E85-7B69F8F6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0357"/>
            <a:ext cx="5573617" cy="2880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07CB9C-8944-16A7-9EA5-E62FFE31F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529" y="3902384"/>
            <a:ext cx="2803697" cy="251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2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1034-E1EE-2303-F2BE-C6FEF2F0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7.Which products have the highest total sales volume (by quantity)?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E81AF-F014-8C79-5813-9FB012252EA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AA6F0-9A47-1536-2C4C-38E6742E0420}"/>
              </a:ext>
            </a:extLst>
          </p:cNvPr>
          <p:cNvSpPr txBox="1"/>
          <p:nvPr/>
        </p:nvSpPr>
        <p:spPr>
          <a:xfrm>
            <a:off x="8453341" y="2439906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DEB68C-3320-656E-4C4A-3CC8D652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41" y="3091119"/>
            <a:ext cx="3000794" cy="2770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20CED0-C5F3-3435-C24B-6D7F4214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6" y="2416774"/>
            <a:ext cx="5639587" cy="21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5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FA80-6EC6-F85F-9133-F0D38253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8.What is the total revenue generated by each product?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60D29-DAF3-57FE-DD95-CC41B32DB7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577921"/>
            <a:ext cx="318295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24391-5319-6837-84C5-E22B76740C5F}"/>
              </a:ext>
            </a:extLst>
          </p:cNvPr>
          <p:cNvSpPr txBox="1"/>
          <p:nvPr/>
        </p:nvSpPr>
        <p:spPr>
          <a:xfrm>
            <a:off x="7414351" y="1428220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2EF77-66C8-A73D-0FCF-C612CD53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63" y="2214694"/>
            <a:ext cx="3019846" cy="2928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9641C9-03DC-9D15-7B0E-125F3001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8" y="2154883"/>
            <a:ext cx="5611008" cy="207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7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624F-4F66-09CB-7923-3484A4F7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ffectLst/>
              </a:rPr>
              <a:t>9.How do product sales vary by category and supplier?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54F27-19AD-8732-651C-3FD21D855A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E1D09-81A5-9D97-4096-4C3159BF8CAB}"/>
              </a:ext>
            </a:extLst>
          </p:cNvPr>
          <p:cNvSpPr txBox="1"/>
          <p:nvPr/>
        </p:nvSpPr>
        <p:spPr>
          <a:xfrm>
            <a:off x="8218582" y="1788692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72EFD-443A-5538-C88A-3ED0032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38" y="2388009"/>
            <a:ext cx="5182323" cy="3147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45B88A-8A7A-BCF9-A2A5-4BC67C4D3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8009"/>
            <a:ext cx="5182323" cy="31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85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EED1-53F3-0779-0E33-CC868324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10.How many orders have been placed in total?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A39AC-16F2-0694-9779-25155230EB7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DBBC4-6BA3-08AC-F058-5B229E774900}"/>
              </a:ext>
            </a:extLst>
          </p:cNvPr>
          <p:cNvSpPr txBox="1"/>
          <p:nvPr/>
        </p:nvSpPr>
        <p:spPr>
          <a:xfrm>
            <a:off x="8967729" y="3287346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5E9CAB-788C-165E-BEE4-BD306CFC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83" y="2385294"/>
            <a:ext cx="3905795" cy="1467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A3ED2-4EEB-C5A3-6818-9539112AE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728" y="3792338"/>
            <a:ext cx="1972019" cy="99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7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5B05-9649-E036-104C-01677C04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11.What is the average value per order?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E2B1E-A93A-687A-10F7-4441D5EF118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22575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FAC7B-D084-AA0E-A520-AE1A5B8C3F82}"/>
              </a:ext>
            </a:extLst>
          </p:cNvPr>
          <p:cNvSpPr txBox="1"/>
          <p:nvPr/>
        </p:nvSpPr>
        <p:spPr>
          <a:xfrm>
            <a:off x="8967729" y="3276329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182B1-79A1-6EC6-73C6-4FC12D07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871" y="4022831"/>
            <a:ext cx="3231336" cy="1414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C6DFE3-92D6-3D01-5C53-50024E47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5" y="2421159"/>
            <a:ext cx="5846254" cy="18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80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85C5-F4C6-56DB-9E4E-BE0464CC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12.On which dates were the most orders placed ?</a:t>
            </a:r>
            <a:endParaRPr lang="en-IN" sz="3200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EBB3084-CC2A-3EFA-2885-C4D96E3B6C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CD688-2FA6-4418-0476-A7C0FE1FCF1A}"/>
              </a:ext>
            </a:extLst>
          </p:cNvPr>
          <p:cNvSpPr txBox="1"/>
          <p:nvPr/>
        </p:nvSpPr>
        <p:spPr>
          <a:xfrm>
            <a:off x="8967729" y="3276329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94E63-F13E-2F91-6920-FE8FA4E0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586" y="4008118"/>
            <a:ext cx="2960115" cy="2376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6A24B8-948C-6E5E-1CEA-C505BD894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3" y="3047334"/>
            <a:ext cx="5389056" cy="203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24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D453-AD3B-2EAD-424A-08C27470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13.What are the monthly trends in order volume and revenue?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8F557-E817-9154-E414-35EE4C551DC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13322-A3D1-2D19-85F8-1C108E5F935A}"/>
              </a:ext>
            </a:extLst>
          </p:cNvPr>
          <p:cNvSpPr txBox="1"/>
          <p:nvPr/>
        </p:nvSpPr>
        <p:spPr>
          <a:xfrm>
            <a:off x="8091823" y="2417174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462B6-FB25-B80D-7C93-2548FD3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3" y="2955039"/>
            <a:ext cx="6793313" cy="2433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781BB2-D8BA-4039-4E58-8558B8F9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023" y="3031238"/>
            <a:ext cx="3667637" cy="235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32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82C3-8FD3-C7EE-EC52-A4B31032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14.How do order patterns vary across weekdays and months?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01518-F950-A85F-2EDF-654A6FD73C4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99138-97C3-E33F-E92C-79F0EE0BCB78}"/>
              </a:ext>
            </a:extLst>
          </p:cNvPr>
          <p:cNvSpPr txBox="1"/>
          <p:nvPr/>
        </p:nvSpPr>
        <p:spPr>
          <a:xfrm>
            <a:off x="8416886" y="2186538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D8AD3B-022C-3A0B-2623-4B8138BE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23" y="2916934"/>
            <a:ext cx="7189048" cy="2324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B90272-4044-39B4-0259-ADC43267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886" y="2800602"/>
            <a:ext cx="2861339" cy="116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27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AA11-6946-D402-8F87-8D922956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15.How many suppliers are there in the database?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B39DDC-34B9-6796-9074-4E288EC91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69" y="2443025"/>
            <a:ext cx="3286584" cy="197195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8AA59F9-AE94-D483-C943-6F7EAEECB2D4}"/>
              </a:ext>
            </a:extLst>
          </p:cNvPr>
          <p:cNvSpPr txBox="1">
            <a:spLocks/>
          </p:cNvSpPr>
          <p:nvPr/>
        </p:nvSpPr>
        <p:spPr>
          <a:xfrm>
            <a:off x="1966969" y="1717829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A612A-8B86-65CB-4B38-9F585748B35D}"/>
              </a:ext>
            </a:extLst>
          </p:cNvPr>
          <p:cNvSpPr txBox="1"/>
          <p:nvPr/>
        </p:nvSpPr>
        <p:spPr>
          <a:xfrm>
            <a:off x="6856049" y="3198167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5FA31-BE60-8D6E-7E4F-5C0F7B09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548" y="3891026"/>
            <a:ext cx="1972019" cy="10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30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4635-F2EC-6286-0B77-BE276823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16.Which supplier provides the most products?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64E01-25CD-99AA-8ABD-B0F963726CDB}"/>
              </a:ext>
            </a:extLst>
          </p:cNvPr>
          <p:cNvSpPr txBox="1">
            <a:spLocks/>
          </p:cNvSpPr>
          <p:nvPr/>
        </p:nvSpPr>
        <p:spPr>
          <a:xfrm>
            <a:off x="1350025" y="2092403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A08D4-83A1-F9C4-4918-27E630B1ECFB}"/>
              </a:ext>
            </a:extLst>
          </p:cNvPr>
          <p:cNvSpPr txBox="1"/>
          <p:nvPr/>
        </p:nvSpPr>
        <p:spPr>
          <a:xfrm>
            <a:off x="7194302" y="3198167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9C217-CE34-9E91-E402-8481962AD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74" y="2621879"/>
            <a:ext cx="5382285" cy="2372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942B63-5AE2-859C-0B4B-B03A5ED4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302" y="3832703"/>
            <a:ext cx="3746824" cy="116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14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7F82-CE67-72D0-4001-D7D1E4B2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</a:t>
            </a:r>
            <a:r>
              <a:rPr lang="en-US" sz="3200" b="1" dirty="0">
                <a:effectLst/>
              </a:rPr>
              <a:t>7.What is the average price of products from each supplier?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44A37-8B2C-7A91-1118-AAC26CBFC4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Query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8F1E6-61F9-B820-1A4E-169B36A64275}"/>
              </a:ext>
            </a:extLst>
          </p:cNvPr>
          <p:cNvSpPr txBox="1"/>
          <p:nvPr/>
        </p:nvSpPr>
        <p:spPr>
          <a:xfrm>
            <a:off x="6856049" y="3209184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EBE2D-212C-174D-DA20-67265A0A8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4165"/>
            <a:ext cx="4356616" cy="2183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0B17E2-1A15-9ABB-519C-AFF63E58D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65" y="3670849"/>
            <a:ext cx="3987392" cy="25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3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3151-82B7-1C4B-6097-D64C6972F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18.Which suppliers contribute the most to total product sales (by revenue)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3E176-D0D2-41EC-2A5C-4BDD39EC2F58}"/>
              </a:ext>
            </a:extLst>
          </p:cNvPr>
          <p:cNvSpPr txBox="1">
            <a:spLocks/>
          </p:cNvSpPr>
          <p:nvPr/>
        </p:nvSpPr>
        <p:spPr>
          <a:xfrm>
            <a:off x="1296311" y="1807329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0370D-7C69-7647-AB42-90BEB01120CA}"/>
              </a:ext>
            </a:extLst>
          </p:cNvPr>
          <p:cNvSpPr txBox="1"/>
          <p:nvPr/>
        </p:nvSpPr>
        <p:spPr>
          <a:xfrm>
            <a:off x="7285154" y="4643307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529A8-6DDC-2A6C-405F-E577573C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11" y="2376339"/>
            <a:ext cx="5612484" cy="2812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43E01F-1A5F-7088-57DD-FED25108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154" y="5188945"/>
            <a:ext cx="3993072" cy="105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3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7459-962A-8A98-7656-BB051CF6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</a:t>
            </a:r>
            <a:r>
              <a:rPr lang="en-US" sz="3200" b="1" dirty="0">
                <a:effectLst/>
              </a:rPr>
              <a:t>9.How many employees have processed orders?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C6EA5-6DF4-5CAD-FE7F-CDA58BE33C04}"/>
              </a:ext>
            </a:extLst>
          </p:cNvPr>
          <p:cNvSpPr txBox="1">
            <a:spLocks/>
          </p:cNvSpPr>
          <p:nvPr/>
        </p:nvSpPr>
        <p:spPr>
          <a:xfrm>
            <a:off x="1966969" y="1728846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0EF73-2C27-2693-CF60-3AD238EEFF37}"/>
              </a:ext>
            </a:extLst>
          </p:cNvPr>
          <p:cNvSpPr txBox="1"/>
          <p:nvPr/>
        </p:nvSpPr>
        <p:spPr>
          <a:xfrm>
            <a:off x="6856049" y="4079516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CE348F-CB04-4110-436B-6E5B185A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991" y="2191736"/>
            <a:ext cx="3772426" cy="1514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DE685-9993-1716-EFF6-062755BD7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27" y="4541180"/>
            <a:ext cx="2631773" cy="14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5838-019A-6658-3F7F-98BAD3C1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20.Which employees have handled the most orders?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09769-EDC6-0C1E-4F2F-947D76F9E311}"/>
              </a:ext>
            </a:extLst>
          </p:cNvPr>
          <p:cNvSpPr txBox="1">
            <a:spLocks/>
          </p:cNvSpPr>
          <p:nvPr/>
        </p:nvSpPr>
        <p:spPr>
          <a:xfrm>
            <a:off x="1371356" y="1690688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D3A7E-4824-E572-41E6-7BDC3D7BB901}"/>
              </a:ext>
            </a:extLst>
          </p:cNvPr>
          <p:cNvSpPr txBox="1"/>
          <p:nvPr/>
        </p:nvSpPr>
        <p:spPr>
          <a:xfrm>
            <a:off x="6993645" y="4020567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624F6-48FF-4D11-B23C-3064AD32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00" y="2301512"/>
            <a:ext cx="5494020" cy="3063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031768-AC86-BA4F-67CD-361DCDC0B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44" y="4584055"/>
            <a:ext cx="3685241" cy="11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38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3F38-B9F2-AC1C-7A4C-459779F6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21.What is the total sales value processed by each employee?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46622-27F6-1CE0-DCCF-288C6BEE76D9}"/>
              </a:ext>
            </a:extLst>
          </p:cNvPr>
          <p:cNvSpPr txBox="1">
            <a:spLocks/>
          </p:cNvSpPr>
          <p:nvPr/>
        </p:nvSpPr>
        <p:spPr>
          <a:xfrm>
            <a:off x="1052569" y="1690688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ADBDC-4F2B-33A5-0153-C1703B23C6FD}"/>
              </a:ext>
            </a:extLst>
          </p:cNvPr>
          <p:cNvSpPr txBox="1"/>
          <p:nvPr/>
        </p:nvSpPr>
        <p:spPr>
          <a:xfrm>
            <a:off x="6856049" y="3429000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81901-0EB7-A31F-17AF-1C6AE0A08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29" y="2371572"/>
            <a:ext cx="5631739" cy="2576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4361A2-9ADA-AB64-2EA3-8E63ADEFC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048" y="3981743"/>
            <a:ext cx="395346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0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24C4-94DF-D1D1-855B-B87ADCB7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22.What is the average order value handled per employee?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413A4-56E6-698B-A166-CA4501D3097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E854B-42F6-7DD8-5184-1A0009C38C21}"/>
              </a:ext>
            </a:extLst>
          </p:cNvPr>
          <p:cNvSpPr txBox="1"/>
          <p:nvPr/>
        </p:nvSpPr>
        <p:spPr>
          <a:xfrm>
            <a:off x="7236100" y="2214694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2961-7927-E1A6-1E26-B8F97BDC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432" y="2777145"/>
            <a:ext cx="3295829" cy="3014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9826BC-3847-5CC1-B094-3F94546B7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7" y="2900686"/>
            <a:ext cx="6037680" cy="289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70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97BF-1770-5632-10A9-2F37C22F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23.What is the relationship between quantity ordered and total price?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EF004-F9ED-ACB4-6625-027EDD704D93}"/>
              </a:ext>
            </a:extLst>
          </p:cNvPr>
          <p:cNvSpPr txBox="1">
            <a:spLocks/>
          </p:cNvSpPr>
          <p:nvPr/>
        </p:nvSpPr>
        <p:spPr>
          <a:xfrm>
            <a:off x="1304307" y="2442809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5390D-0834-0609-7A05-04E041382091}"/>
              </a:ext>
            </a:extLst>
          </p:cNvPr>
          <p:cNvSpPr txBox="1"/>
          <p:nvPr/>
        </p:nvSpPr>
        <p:spPr>
          <a:xfrm>
            <a:off x="6856049" y="3550707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5384B-80CC-3625-EEFD-D2073B6B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07" y="3095656"/>
            <a:ext cx="4198422" cy="2537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A23874-270C-5721-3A83-AF39BED28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249" y="4080565"/>
            <a:ext cx="4419422" cy="159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43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0CF2-2F8B-BF24-C8F3-5F850766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24.What is the average quantity ordered per product?</a:t>
            </a:r>
            <a:endParaRPr lang="en-IN" sz="3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20686-6865-DF3F-686D-DF99CB3D00C2}"/>
              </a:ext>
            </a:extLst>
          </p:cNvPr>
          <p:cNvSpPr txBox="1">
            <a:spLocks/>
          </p:cNvSpPr>
          <p:nvPr/>
        </p:nvSpPr>
        <p:spPr>
          <a:xfrm>
            <a:off x="913774" y="2029366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4E89F-053E-5388-298C-C195F34C63D9}"/>
              </a:ext>
            </a:extLst>
          </p:cNvPr>
          <p:cNvSpPr txBox="1"/>
          <p:nvPr/>
        </p:nvSpPr>
        <p:spPr>
          <a:xfrm>
            <a:off x="6881821" y="2115420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777B1-9600-1A62-0174-A42B9E9A9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77" y="2428735"/>
            <a:ext cx="5181723" cy="2738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DB78C-2B2E-931B-065A-ADAF6195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48" y="2735837"/>
            <a:ext cx="3774838" cy="24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12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528E-EAD5-629A-42EC-8A81E4D3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25.How does the unit price vary across products and orders?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3EC1E-43B1-9EC0-12A7-22C96E9532CD}"/>
              </a:ext>
            </a:extLst>
          </p:cNvPr>
          <p:cNvSpPr txBox="1"/>
          <p:nvPr/>
        </p:nvSpPr>
        <p:spPr>
          <a:xfrm>
            <a:off x="7156957" y="2214694"/>
            <a:ext cx="19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  <a:endParaRPr lang="en-IN" sz="2400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13DF699-7773-66E1-B168-4DD02CDC5DCA}"/>
              </a:ext>
            </a:extLst>
          </p:cNvPr>
          <p:cNvSpPr txBox="1">
            <a:spLocks/>
          </p:cNvSpPr>
          <p:nvPr/>
        </p:nvSpPr>
        <p:spPr>
          <a:xfrm>
            <a:off x="913774" y="2214694"/>
            <a:ext cx="172873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Query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45DFE-5C52-C375-94D8-04D879AA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5" y="2661830"/>
            <a:ext cx="6039693" cy="2530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C76B79-7D90-CED4-F0D5-344E248F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957" y="2762974"/>
            <a:ext cx="4844543" cy="242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32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D31A-F550-C7AA-B948-63A7B7B5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4246-2E96-2A1D-3692-2B927E922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group of customers drives majority of revenue</a:t>
            </a:r>
          </a:p>
          <a:p>
            <a:r>
              <a:rPr lang="en-US" dirty="0"/>
              <a:t>Top customers have higher purchase frequency and value</a:t>
            </a:r>
          </a:p>
          <a:p>
            <a:r>
              <a:rPr lang="en-US" dirty="0"/>
              <a:t>Orders fluctuate by date, month, and weekday/weekend</a:t>
            </a:r>
          </a:p>
          <a:p>
            <a:r>
              <a:rPr lang="en-US" dirty="0"/>
              <a:t>Few suppliers provide most products and revenue</a:t>
            </a:r>
          </a:p>
          <a:p>
            <a:r>
              <a:rPr lang="en-US" dirty="0"/>
              <a:t>Unit price variation suggests pricing optimization potential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681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DD32-6213-CE7A-3227-F931E542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B3890-6269-C035-59CE-2E8E153C6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loyalty programs for top customers</a:t>
            </a:r>
          </a:p>
          <a:p>
            <a:r>
              <a:rPr lang="en-US" dirty="0"/>
              <a:t>Target occasional buyers with promotions</a:t>
            </a:r>
          </a:p>
          <a:p>
            <a:r>
              <a:rPr lang="en-US" dirty="0"/>
              <a:t>Use segmentation for marketing campaigns</a:t>
            </a:r>
          </a:p>
          <a:p>
            <a:r>
              <a:rPr lang="en-US" dirty="0"/>
              <a:t>Focus on high-performing products and profitable categories</a:t>
            </a:r>
          </a:p>
          <a:p>
            <a:r>
              <a:rPr lang="en-US" dirty="0"/>
              <a:t>Negotiate better deals with top suppliers</a:t>
            </a:r>
          </a:p>
          <a:p>
            <a:r>
              <a:rPr lang="en-US" dirty="0"/>
              <a:t>Consider discontinuing low-performing items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679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64CF-8C77-431B-6C90-86A37F91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FC0E8-91A3-E478-576A-21157433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small group of loyal customers and a few high-performing products drive most of the revenue.</a:t>
            </a:r>
          </a:p>
          <a:p>
            <a:r>
              <a:rPr lang="en-US" dirty="0"/>
              <a:t>Sales and order patterns fluctuate by date, month, and weekday/weekend, indicating clear seasonal and weekly trends.</a:t>
            </a:r>
          </a:p>
          <a:p>
            <a:r>
              <a:rPr lang="en-US" dirty="0"/>
              <a:t>Pricing and quantity ordered significantly impact total revenue, showing opportunities for optimization.</a:t>
            </a:r>
          </a:p>
          <a:p>
            <a:r>
              <a:rPr lang="en-US" dirty="0"/>
              <a:t>Data-driven strategies in customer targeting, product focus, supplier management, and employee performance can significantly improve profitability and operational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034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2869C-AAD3-CEDA-B684-E604717A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Experience/Challenges working on 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F4CA-239A-A282-C095-580C09E60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238" y="2655851"/>
            <a:ext cx="10364452" cy="3424107"/>
          </a:xfrm>
        </p:spPr>
        <p:txBody>
          <a:bodyPr/>
          <a:lstStyle/>
          <a:p>
            <a:r>
              <a:rPr lang="en-US" dirty="0"/>
              <a:t>Gained hands-on experience designing and implementing a relational database with multiple tables, foreign keys, and constraints.</a:t>
            </a:r>
          </a:p>
          <a:p>
            <a:r>
              <a:rPr lang="en-US" dirty="0"/>
              <a:t>Learned to write complex SQL queries for aggregating data, joining multiple tables, and calculating metrics like total revenue, average purchase, and product performance</a:t>
            </a:r>
          </a:p>
          <a:p>
            <a:r>
              <a:rPr lang="en-US" dirty="0"/>
              <a:t>Improved problem-solving and logical thinking by translating real-world business questions into SQL queries.</a:t>
            </a:r>
          </a:p>
        </p:txBody>
      </p:sp>
    </p:spTree>
    <p:extLst>
      <p:ext uri="{BB962C8B-B14F-4D97-AF65-F5344CB8AC3E}">
        <p14:creationId xmlns:p14="http://schemas.microsoft.com/office/powerpoint/2010/main" val="39804897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3378200" y="2358189"/>
            <a:ext cx="6391442" cy="3368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924908-8C57-8E61-1FD5-6349461091E8}"/>
              </a:ext>
            </a:extLst>
          </p:cNvPr>
          <p:cNvSpPr txBox="1"/>
          <p:nvPr/>
        </p:nvSpPr>
        <p:spPr>
          <a:xfrm>
            <a:off x="6689558" y="3781000"/>
            <a:ext cx="3705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Group Members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C3540-4ED6-3558-CBFC-07437EC6B750}"/>
              </a:ext>
            </a:extLst>
          </p:cNvPr>
          <p:cNvSpPr txBox="1"/>
          <p:nvPr/>
        </p:nvSpPr>
        <p:spPr>
          <a:xfrm>
            <a:off x="7611980" y="4600127"/>
            <a:ext cx="4940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Venkatesh Boragala</a:t>
            </a:r>
          </a:p>
          <a:p>
            <a:r>
              <a:rPr lang="en-US" sz="3200" dirty="0"/>
              <a:t>Saishiva Jakkula</a:t>
            </a:r>
          </a:p>
          <a:p>
            <a:r>
              <a:rPr lang="en-US" sz="3200" dirty="0"/>
              <a:t>Harikrishna </a:t>
            </a:r>
            <a:r>
              <a:rPr lang="en-US" sz="3200" dirty="0" err="1"/>
              <a:t>kanapuram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80</TotalTime>
  <Words>785</Words>
  <Application>Microsoft Office PowerPoint</Application>
  <PresentationFormat>Widescreen</PresentationFormat>
  <Paragraphs>141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Libre Baskerville</vt:lpstr>
      <vt:lpstr>Tw Cen MT</vt:lpstr>
      <vt:lpstr>Calibri</vt:lpstr>
      <vt:lpstr>Droplet</vt:lpstr>
      <vt:lpstr>PowerPoint Presentation</vt:lpstr>
      <vt:lpstr>Agenda (This should be the PPT flow)  </vt:lpstr>
      <vt:lpstr>Objectives</vt:lpstr>
      <vt:lpstr>Introduction</vt:lpstr>
      <vt:lpstr>Tables</vt:lpstr>
      <vt:lpstr>Tables</vt:lpstr>
      <vt:lpstr>ER Diagram</vt:lpstr>
      <vt:lpstr>Key Analysis</vt:lpstr>
      <vt:lpstr>2.Which customers have placed the highest number of orders?</vt:lpstr>
      <vt:lpstr>3.What is the total and average purchase value per customer?</vt:lpstr>
      <vt:lpstr>4.Who are the top 5 customers by total purchase amount?</vt:lpstr>
      <vt:lpstr>5.How many products exist in each category?</vt:lpstr>
      <vt:lpstr>6.What is the average price of products by category?</vt:lpstr>
      <vt:lpstr>7.Which products have the highest total sales volume (by quantity)?</vt:lpstr>
      <vt:lpstr>8.What is the total revenue generated by each product?</vt:lpstr>
      <vt:lpstr>9.How do product sales vary by category and supplier?</vt:lpstr>
      <vt:lpstr>10.How many orders have been placed in total?</vt:lpstr>
      <vt:lpstr>11.What is the average value per order?</vt:lpstr>
      <vt:lpstr>12.On which dates were the most orders placed ?</vt:lpstr>
      <vt:lpstr>13.What are the monthly trends in order volume and revenue?</vt:lpstr>
      <vt:lpstr>14.How do order patterns vary across weekdays and months?</vt:lpstr>
      <vt:lpstr>15.How many suppliers are there in the database?</vt:lpstr>
      <vt:lpstr>16.Which supplier provides the most products?</vt:lpstr>
      <vt:lpstr>17.What is the average price of products from each supplier?</vt:lpstr>
      <vt:lpstr>18.Which suppliers contribute the most to total product sales (by revenue)</vt:lpstr>
      <vt:lpstr>19.How many employees have processed orders?</vt:lpstr>
      <vt:lpstr>20.Which employees have handled the most orders?</vt:lpstr>
      <vt:lpstr>21.What is the total sales value processed by each employee?</vt:lpstr>
      <vt:lpstr>22.What is the average order value handled per employee?</vt:lpstr>
      <vt:lpstr>23.What is the relationship between quantity ordered and total price?</vt:lpstr>
      <vt:lpstr>24.What is the average quantity ordered per product?</vt:lpstr>
      <vt:lpstr>25.How does the unit price vary across products and orders?</vt:lpstr>
      <vt:lpstr>Final INSIGHTS</vt:lpstr>
      <vt:lpstr>Recommendations </vt:lpstr>
      <vt:lpstr>Conclusion</vt:lpstr>
      <vt:lpstr>Experience/Challenges working on SQL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Boragala venkatesh</cp:lastModifiedBy>
  <cp:revision>3</cp:revision>
  <dcterms:created xsi:type="dcterms:W3CDTF">2021-02-16T05:19:01Z</dcterms:created>
  <dcterms:modified xsi:type="dcterms:W3CDTF">2025-12-12T08:55:16Z</dcterms:modified>
</cp:coreProperties>
</file>